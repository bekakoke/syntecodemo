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044be32-95eb-fb25-de04-63a3e966d91e}">
          <p14:sldIdLst>
            <p14:sldId id="256"/>
          </p14:sldIdLst>
        </p14:section>
        <p14:section name="Architecture" id="{790eaed7-d3d6-d604-7525-0aba4614901d}">
          <p14:sldIdLst>
            <p14:sldId id="257"/>
          </p14:sldIdLst>
        </p14:section>
        <p14:section name="Design patterns" id="{5c0371ae-44f6-8f01-897e-2ab6e526b79c}">
          <p14:sldIdLst>
            <p14:sldId id="258"/>
          </p14:sldIdLst>
        </p14:section>
        <p14:section name="UML and database" id="{464f599e-3d5f-e6fc-66f9-9d1782fe60cb}">
          <p14:sldIdLst>
            <p14:sldId id="259"/>
          </p14:sldIdLst>
        </p14:section>
        <p14:section name="Quality and Q&amp;A" id="{7c48ef78-824f-0ed9-7623-9f6361d92d5f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tests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F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Main workflows</c:v>
                  </c:pt>
                  <c:pt idx="1">
                    <c:v>Strategy</c:v>
                  </c:pt>
                  <c:pt idx="2">
                    <c:v>Adapter</c:v>
                  </c:pt>
                  <c:pt idx="3">
                    <c:v>Decorator</c:v>
                  </c:pt>
                  <c:pt idx="4">
                    <c:v>Checkout E2E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27</c:v>
                </c:pt>
                <c:pt idx="2">
                  <c:v>18</c:v>
                </c:pt>
                <c:pt idx="3">
                  <c:v>15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F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ВСТУПЛЕНИЕ (~1,5 мин)
Тема: вариант A — система управления интернет-магазином. Я взял копию реального проекта synteco.kz (B2B-поставки СИЗ и промышленных товаров в Казахстане) и превратил его из «каталог + запрос КП» в полноценный магазин. Боевой сайт не трогал: отдельный репозиторий, своя база и Docker.
Что было до меня: каталог, корзина, админка, CRM, авторизация.
Что добавил я: оформление заказа с расчётом цены, промокоды (Strategy), доп. услуги (Decorator), 4 способа оплаты через адаптеры к «чужим» SDK (Adapter), повторная оплата, возврат при отмене, уведомления (второй Decorator), страница промокодов в админке, цены на сайте, 326 автотестов, документация A–E.
Если спросят «почему этот проект»: реальная предметная область, и в ней естественно возникают все три паттерна — разные правила скидок, разные платёжные провайдеры, комбинируемые доп. услуги.
Если спросят «как запустить»: pnpm install → pnpm demo:setup → pnpm dev. Магазин :3001, админка :3002, Swagger :3000/api-docs.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(~2 мин)
Это модульный монолит: один NestJS-бэкенд, разбитый на модули по доменам (auth, products, cart, orders, promotions, payments, notifications…), и два фронтенда на Next.js. Общаются по REST /api/v1.
Слои (требование задания):
• Presentation — apps/web (магазин) и apps/admin (панель). Только UI, бизнес-правил там нет.
• Business logic — сервисы NestJS: проверка остатков, машина состояний заказа, проверка владельца заказа, транзакции.
• Pattern classes — стратегии, адаптеры, декораторы: обычные классы за интерфейсами, не знают ни про HTTP, ни про базу → легко тестировать.
• Data access — один PrismaClient (PrismaModule, глобальный), подставляется через DI, в тестах заменяется моком.
• Database — PostgreSQL 16, схемы product/commerce/customer/crm/audit, миграции 0–5.
Separation of concerns: контроллер только переводит HTTP в вызов сервиса (+ @Roles, DTO). Ошибки: сервис бросает AppException(ErrorCode) → глобальный фильтр отдаёт RFC 7807 JSON.
Вопрос «почему монолит, а не микросервисы?» — один разработчик, одна база, транзакции между заказом, складом и промокодом проще и надёжнее в одном процессе; модули при этом изолированы, их можно вынести позже.
Вопрос «что за диаграмма слева?» — карта компонентов и потоков данных; изначально сгенерирована gitdiagram.com по коду репозитория, я её проверил и дополнил (Kaspi SDK, Redis, выделил модули паттернов). Слоистая схема и UML — в docs/diagrams.
Вопрос «как обеспечена целостность?» — шаг 4 идёт одной транзакцией: если что-то упало, ни заказ, ни резерв склада не сохранятся.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ПАТТЕРНЫ (~3 мин) — главный слайд, здесь будут вопросы.
STRATEGY — скидки. Файлы: apps/api/src/modules/promotions/strategies/.
• Интерфейс DiscountStrategy: calculate(context) → {amount, description}; validateConfig(value, params) — каждая стратегия сама проверяет свои настройки.
• 4 стратегии: процент (SAFETY10), фиксированная сумма (MINUS5000), оптовая по количеству (OPT2026), «купи 3 — получи 1» (BUY3GET1).
• Выбор во время работы: в таблице promotions поле strategy хранит тип; PromotionsService берёт стратегию из DiscountStrategyRegistry и НЕ знает, какой класс получил.
• Смена во время работы: админ в панели меняет стратегию промокода → следующий расчёт уже по новому алгоритму, без перезапуска.
• Новая стратегия: класс + строка в STRATEGY_CLASSES (PromotionsModule). Тесты PerLineDiscountStrategy и seasonal_double это доказывают.
ADAPTER — оплата. Файлы: payments/vendors (чужие SDK, помечены DO NOT MODIFY), payments/adapters.
• Target: PaymentGateway.pay(request) → Promise&lt;PaymentResult {paid|pending|failed}&gt; в тенге.
• Kaspi SDK: поля PascalCase, сумма в тиынах, телефон 10 цифр, ответ StatusCode + Data.Status. Адаптер нормализует телефон, ₸→тиын, маппит Approved/Rejected/503.
• Halyk SDK: callback вместо Promise, сумма строкой в минорных единицах, валюта 398, коды ISO 00/51/14/54. Адаптер оборачивает callback в Promise и маппит коды.
• Счёт юрлицу и оплата при получении — наш код, реализуют интерфейс напрямую, адаптер не нужен.
• PaymentsService работает только с интерфейсом: Map по method.
DECORATOR — доп. услуги. Файлы: orders/order-cost/.
• Component OrderCost {getCost, getLines}; BaseOrderCost = товары − скидка.
• Абстрактный OrderCostDecorator хранит inner: OrderCost и прибавляет extraCost().
• 4 декоратора; процентные считают от уже обёрнутой суммы (страховка от суммы с экспресс-доставкой).
• buildOrderCost оборачивает по выбранным услугам в фиксированном порядке → результат детерминирован, дубли игнорируются, неизвестный код → ошибка.
• Второе применение: уведомления — InAppNotifier сохраняет в БД, декораторы Email/SMS/WebSocket добавляют каналы.
Если спросят «где тут SOLID»: OCP — новые стратегии/адаптеры/декораторы без правки клиента; DIP — сервисы зависят от интерфейсов, конкретику даёт DI (multi-provider токены DISCOUNT_STRATEGIES, PAYMENT_GATEWAYS); SRP — каждая стратегия/адаптер делает одно.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И БАЗА (~2 мин)
UML (слева): верх — доменная модель (User, Product, Category, Cart, Order, OrderItem, Payment, Promotion, Notification); середина — сервисы (OrdersService использует PromotionsService, PaymentsService, NotificationsService и строит OrderCost); низ — три паттерна: DiscountStrategy и 4 реализации + Registry; PaymentGateway и адаптеры → vendor SDK; OrderCost/OrderCostDecorator и 4 декоратора; Notifier и 3 декоратора каналов. Стрелки: реализация интерфейса (пунктир с треугольником), наследование, композиция (ромб — Order владеет OrderItem/Payment).
ERD (справа): ядро магазина. Главное:
• users 1–* orders; orders 1–* order_items / payments / order_status_history;
• products *–* categories через product_categories; product_stock — составной ключ (product, warehouse), available = quantity − reserved;
• promotions связаны с заказом по promo_code; в заказе сохраняется и discount_strategy — видно, какой алгоритм применился.
Хранение: PostgreSQL 16 в Docker, Prisma ORM, миграции в репозитории (5-я добавляет promotions, payments, notifications). Деньги — DECIMAL, не float. Ключи — UUID. Уникальные: email, order_number, variant_id (SKU), promo code.
Целостность: создание заказа — одна транзакция (заказ + позиции + история + резерв склада + счётчик промокода). Оплата — тоже транзакция (payment + статус заказа).
Почему разбивка цены хранится в заказе: если потом изменится промокод или цена услуги, история заказа не должна «поплыть».
Данные карт НЕ хранятся — только результат платежа и id транзакции.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И ВОПРОСЫ (~2 мин + вопросы)
Тесты: 262 юнит (без базы, pnpm --filter @synteco/api test) + 64 e2e через HTTP на демо-базе (test:e2e). Новые: 13 на основной функционал заказа (TC-01…13), 27 Strategy, 18 Adapter, 15 Decorator, 6 e2e всего оформления. CI на GitHub гоняет всё на каждый push. В чистом клоне 1 тест оригинала пропускается — ему нужны большие файлы поставщика, которых нет в git.
ДОПОЛНИТЕЛЬНЫЕ ВОПРОСЫ И ОТВЕТЫ
• Как стратегия выбирается во время работы? — из записи промокода (поле strategy) через DiscountStrategyRegistry; админ может сменить её PATCH /promotions/:id.
• Как доказать, что новая стратегия не требует правок? — тест регистрирует класс, которого нет в коде (PerLineDiscountStrategy / seasonal_double), и неизменённый PromotionsService его использует.
• Почему адаптер, а не просто поправить SDK? — это «чужой» код: при обновлении библиотеки правки потерялись бы; по заданию оригинал менять нельзя.
• Чем Adapter отличается от Decorator? — Adapter меняет интерфейс (несовместимый → наш), Decorator сохраняет интерфейс и добавляет поведение.
• Где валидация? — DTO (class-validator, whitelist), плюс бизнес-проверки в сервисах (остатки, владелец заказа, переходы статусов); стратегии проверяют свои параметры (validateConfig).
• Роли? — гость, покупатель, менеджер, администратор; JwtAuthGuard + RolesGuard, плюс проверка владельца заказа в сервисе.
• Почему платежи симулированы? — задание разрешает; настоящий провайдер подключается новым адаптером без изменений PaymentsService.
• Безопасность? — bcrypt, JWT + refresh-токены, CSRF для публичных форм, Helmet CSP, rate limiting; данные карт не сохраняются.
• Что сложнее всего? — согласовать расчёт цены: скидка (стратегия) → услуги (декораторы, процентные считают от обёрнутой суммы) → НДС 12% с округлением по строкам, как в 1С/ЭСФ.
• Что улучшить дальше? — реальные провайдеры Kaspi/Halyk (новые адаптеры), экспорт счетов, e2e-тесты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Synteco Demo · Sauytbek Beksultan · 220103118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F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Synteco Demo · Sauytbek Beksultan · 220103118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F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 COURSE PROJECT  ·  OPTION A — E-COMMERCE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Synteco Demo — E-Commerce Management System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online store built on a copy of the real synteco.kz code base, extended with Strategy, Adapter and Decorator</a:t>
            </a:r>
            <a:endParaRPr lang="en-US" sz="1600" dirty="0"/>
          </a:p>
        </p:txBody>
      </p:sp>
      <p:sp>
        <p:nvSpPr>
          <p:cNvPr id="5" name="Problem card"/>
          <p:cNvSpPr/>
          <p:nvPr/>
        </p:nvSpPr>
        <p:spPr>
          <a:xfrm>
            <a:off x="457200" y="20116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6" name="Problem"/>
          <p:cNvSpPr txBox="1"/>
          <p:nvPr/>
        </p:nvSpPr>
        <p:spPr>
          <a:xfrm>
            <a:off x="685800" y="21488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production site is a catalogue + request-for-quote tool: the customer cannot see the final price, apply a discount, pay, or follow the order. A manager does everything by phone.</a:t>
            </a:r>
            <a:endParaRPr lang="en-US" sz="1200" dirty="0"/>
          </a:p>
        </p:txBody>
      </p:sp>
      <p:sp>
        <p:nvSpPr>
          <p:cNvPr id="7" name="Solution card"/>
          <p:cNvSpPr/>
          <p:nvPr/>
        </p:nvSpPr>
        <p:spPr>
          <a:xfrm>
            <a:off x="457200" y="379476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8" name="Solution"/>
          <p:cNvSpPr txBox="1"/>
          <p:nvPr/>
        </p:nvSpPr>
        <p:spPr>
          <a:xfrm>
            <a:off x="685800" y="393192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design, catalogue and NestJS + Next.js architecture, plus the missing workflows: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checkout with promo codes, optional services and VAT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simulated payment methods, retry and refund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workflow, notifications, promotions admin</a:t>
            </a:r>
            <a:endParaRPr lang="en-US" sz="1200" dirty="0"/>
          </a:p>
        </p:txBody>
      </p:sp>
      <p:sp>
        <p:nvSpPr>
          <p:cNvPr id="9" name="Stat Strategy"/>
          <p:cNvSpPr/>
          <p:nvPr/>
        </p:nvSpPr>
        <p:spPr>
          <a:xfrm>
            <a:off x="6355080" y="201168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10" name="Stat Strategy tag"/>
          <p:cNvSpPr txBox="1"/>
          <p:nvPr/>
        </p:nvSpPr>
        <p:spPr>
          <a:xfrm>
            <a:off x="6519672" y="2148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1" name="Stat Strategy number"/>
          <p:cNvSpPr txBox="1"/>
          <p:nvPr/>
        </p:nvSpPr>
        <p:spPr>
          <a:xfrm>
            <a:off x="6519672" y="23957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Stat Strategy label"/>
          <p:cNvSpPr txBox="1"/>
          <p:nvPr/>
        </p:nvSpPr>
        <p:spPr>
          <a:xfrm>
            <a:off x="6519672" y="301752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strategies</a:t>
            </a:r>
            <a:endParaRPr lang="en-US" sz="1200" dirty="0"/>
          </a:p>
        </p:txBody>
      </p:sp>
      <p:sp>
        <p:nvSpPr>
          <p:cNvPr id="13" name="Stat Adapter"/>
          <p:cNvSpPr/>
          <p:nvPr/>
        </p:nvSpPr>
        <p:spPr>
          <a:xfrm>
            <a:off x="8202168" y="201168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14" name="Stat Adapter tag"/>
          <p:cNvSpPr txBox="1"/>
          <p:nvPr/>
        </p:nvSpPr>
        <p:spPr>
          <a:xfrm>
            <a:off x="8366760" y="2148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000" dirty="0"/>
          </a:p>
        </p:txBody>
      </p:sp>
      <p:sp>
        <p:nvSpPr>
          <p:cNvPr id="15" name="Stat Adapter number"/>
          <p:cNvSpPr txBox="1"/>
          <p:nvPr/>
        </p:nvSpPr>
        <p:spPr>
          <a:xfrm>
            <a:off x="8366760" y="23957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</a:t>
            </a:r>
            <a:endParaRPr lang="en-US" sz="3400" dirty="0"/>
          </a:p>
        </p:txBody>
      </p:sp>
      <p:sp>
        <p:nvSpPr>
          <p:cNvPr id="16" name="Stat Adapter label"/>
          <p:cNvSpPr txBox="1"/>
          <p:nvPr/>
        </p:nvSpPr>
        <p:spPr>
          <a:xfrm>
            <a:off x="8366760" y="301752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adapters + native gateways</a:t>
            </a:r>
            <a:endParaRPr lang="en-US" sz="1200" dirty="0"/>
          </a:p>
        </p:txBody>
      </p:sp>
      <p:sp>
        <p:nvSpPr>
          <p:cNvPr id="17" name="Stat Decorator"/>
          <p:cNvSpPr/>
          <p:nvPr/>
        </p:nvSpPr>
        <p:spPr>
          <a:xfrm>
            <a:off x="10049256" y="201168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18" name="Stat Decorator tag"/>
          <p:cNvSpPr txBox="1"/>
          <p:nvPr/>
        </p:nvSpPr>
        <p:spPr>
          <a:xfrm>
            <a:off x="10213848" y="2148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000" dirty="0"/>
          </a:p>
        </p:txBody>
      </p:sp>
      <p:sp>
        <p:nvSpPr>
          <p:cNvPr id="19" name="Stat Decorator number"/>
          <p:cNvSpPr txBox="1"/>
          <p:nvPr/>
        </p:nvSpPr>
        <p:spPr>
          <a:xfrm>
            <a:off x="10213848" y="23957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Stat Decorator label"/>
          <p:cNvSpPr txBox="1"/>
          <p:nvPr/>
        </p:nvSpPr>
        <p:spPr>
          <a:xfrm>
            <a:off x="10213848" y="301752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decorators: 4 services, 3 channels</a:t>
            </a:r>
            <a:endParaRPr lang="en-US" sz="1200" dirty="0"/>
          </a:p>
        </p:txBody>
      </p:sp>
      <p:sp>
        <p:nvSpPr>
          <p:cNvPr id="21" name="Stat Quality"/>
          <p:cNvSpPr/>
          <p:nvPr/>
        </p:nvSpPr>
        <p:spPr>
          <a:xfrm>
            <a:off x="6355080" y="397764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22" name="Stat Quality tag"/>
          <p:cNvSpPr txBox="1"/>
          <p:nvPr/>
        </p:nvSpPr>
        <p:spPr>
          <a:xfrm>
            <a:off x="6519672" y="41148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000" dirty="0"/>
          </a:p>
        </p:txBody>
      </p:sp>
      <p:sp>
        <p:nvSpPr>
          <p:cNvPr id="23" name="Stat Quality number"/>
          <p:cNvSpPr txBox="1"/>
          <p:nvPr/>
        </p:nvSpPr>
        <p:spPr>
          <a:xfrm>
            <a:off x="6519672" y="436168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3400" dirty="0"/>
          </a:p>
        </p:txBody>
      </p:sp>
      <p:sp>
        <p:nvSpPr>
          <p:cNvPr id="24" name="Stat Quality label"/>
          <p:cNvSpPr txBox="1"/>
          <p:nvPr/>
        </p:nvSpPr>
        <p:spPr>
          <a:xfrm>
            <a:off x="6519672" y="498348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 (262 unit, 64 E2E)</a:t>
            </a:r>
            <a:endParaRPr lang="en-US" sz="1200" dirty="0"/>
          </a:p>
        </p:txBody>
      </p:sp>
      <p:sp>
        <p:nvSpPr>
          <p:cNvPr id="25" name="Stat Data"/>
          <p:cNvSpPr/>
          <p:nvPr/>
        </p:nvSpPr>
        <p:spPr>
          <a:xfrm>
            <a:off x="8202168" y="397764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26" name="Stat Data tag"/>
          <p:cNvSpPr txBox="1"/>
          <p:nvPr/>
        </p:nvSpPr>
        <p:spPr>
          <a:xfrm>
            <a:off x="8366760" y="41148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27" name="Stat Data number"/>
          <p:cNvSpPr txBox="1"/>
          <p:nvPr/>
        </p:nvSpPr>
        <p:spPr>
          <a:xfrm>
            <a:off x="8366760" y="436168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881</a:t>
            </a:r>
            <a:endParaRPr lang="en-US" sz="3400" dirty="0"/>
          </a:p>
        </p:txBody>
      </p:sp>
      <p:sp>
        <p:nvSpPr>
          <p:cNvPr id="28" name="Stat Data label"/>
          <p:cNvSpPr txBox="1"/>
          <p:nvPr/>
        </p:nvSpPr>
        <p:spPr>
          <a:xfrm>
            <a:off x="8366760" y="498348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· 114 categories · 386 brands</a:t>
            </a:r>
            <a:endParaRPr lang="en-US" sz="1200" dirty="0"/>
          </a:p>
        </p:txBody>
      </p:sp>
      <p:sp>
        <p:nvSpPr>
          <p:cNvPr id="29" name="Stat Run"/>
          <p:cNvSpPr/>
          <p:nvPr/>
        </p:nvSpPr>
        <p:spPr>
          <a:xfrm>
            <a:off x="10049256" y="3977640"/>
            <a:ext cx="1664208" cy="1783080"/>
          </a:xfrm>
          <a:prstGeom prst="roundRect">
            <a:avLst>
              <a:gd name="adj" fmla="val 4396"/>
            </a:avLst>
          </a:prstGeom>
          <a:solidFill>
            <a:srgbClr val="262A31"/>
          </a:solidFill>
          <a:ln w="12700">
            <a:solidFill>
              <a:srgbClr val="262A31"/>
            </a:solidFill>
            <a:prstDash val="solid"/>
          </a:ln>
        </p:spPr>
      </p:sp>
      <p:sp>
        <p:nvSpPr>
          <p:cNvPr id="30" name="Stat Run tag"/>
          <p:cNvSpPr txBox="1"/>
          <p:nvPr/>
        </p:nvSpPr>
        <p:spPr>
          <a:xfrm>
            <a:off x="10213848" y="41148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000" dirty="0"/>
          </a:p>
        </p:txBody>
      </p:sp>
      <p:sp>
        <p:nvSpPr>
          <p:cNvPr id="31" name="Stat Run number"/>
          <p:cNvSpPr txBox="1"/>
          <p:nvPr/>
        </p:nvSpPr>
        <p:spPr>
          <a:xfrm>
            <a:off x="10213848" y="436168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32" name="Stat Run label"/>
          <p:cNvSpPr txBox="1"/>
          <p:nvPr/>
        </p:nvSpPr>
        <p:spPr>
          <a:xfrm>
            <a:off x="10213848" y="498348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setup: pnpm demo:setup</a:t>
            </a:r>
            <a:endParaRPr lang="en-US" sz="1200" dirty="0"/>
          </a:p>
        </p:txBody>
      </p:sp>
      <p:sp>
        <p:nvSpPr>
          <p:cNvPr id="33" name="Stack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 </a:t>
            </a:r>
            <a:pPr indent="0" marL="0">
              <a:buNone/>
            </a:pPr>
            <a:r>
              <a:rPr lang="en-US" sz="120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· Next.js 16 / React 19 · NestJS 10 · Prisma · PostgreSQL 16 · Redis · Typesense · Docker Compose · Jest + Supertest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F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layered modular monolith</a:t>
            </a:r>
            <a:endParaRPr lang="en-US" sz="3000" dirty="0"/>
          </a:p>
        </p:txBody>
      </p:sp>
      <p:pic>
        <p:nvPicPr>
          <p:cNvPr id="3" name="Component diagram" descr="Component and data-flow diagram of Synteco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643070" cy="5074920"/>
          </a:xfrm>
          <a:prstGeom prst="rect">
            <a:avLst/>
          </a:prstGeom>
        </p:spPr>
      </p:pic>
      <p:sp>
        <p:nvSpPr>
          <p:cNvPr id="4" name="Diagram caption"/>
          <p:cNvSpPr txBox="1"/>
          <p:nvPr/>
        </p:nvSpPr>
        <p:spPr>
          <a:xfrm>
            <a:off x="457200" y="6199632"/>
            <a:ext cx="6643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&amp; data-flow map. Red boxes are the modules that implement the three patterns.</a:t>
            </a:r>
            <a:endParaRPr lang="en-US" sz="1100" dirty="0"/>
          </a:p>
        </p:txBody>
      </p:sp>
      <p:sp>
        <p:nvSpPr>
          <p:cNvPr id="5" name="Layer Presentation"/>
          <p:cNvSpPr/>
          <p:nvPr/>
        </p:nvSpPr>
        <p:spPr>
          <a:xfrm>
            <a:off x="7360920" y="1097280"/>
            <a:ext cx="4373575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Layer Presentation text"/>
          <p:cNvSpPr txBox="1"/>
          <p:nvPr/>
        </p:nvSpPr>
        <p:spPr>
          <a:xfrm>
            <a:off x="7498080" y="1161288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 (shop) and apps/admin, Next.js 16. UI only, calls REST /api/v1.</a:t>
            </a:r>
            <a:endParaRPr lang="en-US" sz="1300" dirty="0"/>
          </a:p>
        </p:txBody>
      </p:sp>
      <p:sp>
        <p:nvSpPr>
          <p:cNvPr id="7" name="Layer Business logic"/>
          <p:cNvSpPr/>
          <p:nvPr/>
        </p:nvSpPr>
        <p:spPr>
          <a:xfrm>
            <a:off x="7360920" y="1892808"/>
            <a:ext cx="4373575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Layer Business logic text"/>
          <p:cNvSpPr txBox="1"/>
          <p:nvPr/>
        </p:nvSpPr>
        <p:spPr>
          <a:xfrm>
            <a:off x="7498080" y="1956816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services hold all rules: stock, state machine, ownership, transactions.</a:t>
            </a:r>
            <a:endParaRPr lang="en-US" sz="1300" dirty="0"/>
          </a:p>
        </p:txBody>
      </p:sp>
      <p:sp>
        <p:nvSpPr>
          <p:cNvPr id="9" name="Layer Pattern classes"/>
          <p:cNvSpPr/>
          <p:nvPr/>
        </p:nvSpPr>
        <p:spPr>
          <a:xfrm>
            <a:off x="7360920" y="2688336"/>
            <a:ext cx="4373575" cy="731520"/>
          </a:xfrm>
          <a:prstGeom prst="roundRect">
            <a:avLst>
              <a:gd name="adj" fmla="val 10000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0" name="Layer Pattern classes text"/>
          <p:cNvSpPr txBox="1"/>
          <p:nvPr/>
        </p:nvSpPr>
        <p:spPr>
          <a:xfrm>
            <a:off x="7498080" y="2752344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classes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Strategies, adapters, decorators. Plain TypeScript, injected by DI, no HTTP or DB.</a:t>
            </a:r>
            <a:endParaRPr lang="en-US" sz="1300" dirty="0"/>
          </a:p>
        </p:txBody>
      </p:sp>
      <p:sp>
        <p:nvSpPr>
          <p:cNvPr id="11" name="Layer Data access"/>
          <p:cNvSpPr/>
          <p:nvPr/>
        </p:nvSpPr>
        <p:spPr>
          <a:xfrm>
            <a:off x="7360920" y="3483864"/>
            <a:ext cx="4373575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Layer Data access text"/>
          <p:cNvSpPr txBox="1"/>
          <p:nvPr/>
        </p:nvSpPr>
        <p:spPr>
          <a:xfrm>
            <a:off x="7498080" y="3547872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PrismaClient from the global PrismaModule. Type-safe queries, mocked in tests.</a:t>
            </a:r>
            <a:endParaRPr lang="en-US" sz="1300" dirty="0"/>
          </a:p>
        </p:txBody>
      </p:sp>
      <p:sp>
        <p:nvSpPr>
          <p:cNvPr id="13" name="Layer Database"/>
          <p:cNvSpPr/>
          <p:nvPr/>
        </p:nvSpPr>
        <p:spPr>
          <a:xfrm>
            <a:off x="7360920" y="4279392"/>
            <a:ext cx="4373575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Layer Database text"/>
          <p:cNvSpPr txBox="1"/>
          <p:nvPr/>
        </p:nvSpPr>
        <p:spPr>
          <a:xfrm>
            <a:off x="7498080" y="434340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16, 5 domain schemas, versioned migrations 0–5.</a:t>
            </a:r>
            <a:endParaRPr lang="en-US" sz="1300" dirty="0"/>
          </a:p>
        </p:txBody>
      </p:sp>
      <p:sp>
        <p:nvSpPr>
          <p:cNvPr id="15" name="Flow heading"/>
          <p:cNvSpPr txBox="1"/>
          <p:nvPr/>
        </p:nvSpPr>
        <p:spPr>
          <a:xfrm>
            <a:off x="7360920" y="5138928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/orders: one checkout request</a:t>
            </a:r>
            <a:endParaRPr lang="en-US" sz="1300" dirty="0"/>
          </a:p>
        </p:txBody>
      </p:sp>
      <p:sp>
        <p:nvSpPr>
          <p:cNvPr id="16" name="Flow"/>
          <p:cNvSpPr txBox="1"/>
          <p:nvPr/>
        </p:nvSpPr>
        <p:spPr>
          <a:xfrm>
            <a:off x="7360920" y="5394960"/>
            <a:ext cx="4373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DTO validation → 2 promo picks DiscountStrategy → 3 BaseOrderCost wrapped by service decorators + VAT → 4 one DB transaction: order, items, stock reservation, promo usage → 5 PaymentGateway adapter charges → 6 notifier chain informs the customer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patterns in working code</a:t>
            </a:r>
            <a:endParaRPr lang="en-US" sz="3000" dirty="0"/>
          </a:p>
        </p:txBody>
      </p:sp>
      <p:sp>
        <p:nvSpPr>
          <p:cNvPr id="3" name="Strategy card"/>
          <p:cNvSpPr/>
          <p:nvPr/>
        </p:nvSpPr>
        <p:spPr>
          <a:xfrm>
            <a:off x="457200" y="1097280"/>
            <a:ext cx="3576218" cy="4709160"/>
          </a:xfrm>
          <a:prstGeom prst="roundRect">
            <a:avLst>
              <a:gd name="adj" fmla="val 204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" name="Strategy badg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trategy badge letter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6" name="Strategy header"/>
          <p:cNvSpPr txBox="1"/>
          <p:nvPr/>
        </p:nvSpPr>
        <p:spPr>
          <a:xfrm>
            <a:off x="1207008" y="1243584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algorithms</a:t>
            </a:r>
            <a:endParaRPr lang="en-US" sz="1800" dirty="0"/>
          </a:p>
        </p:txBody>
      </p:sp>
      <p:sp>
        <p:nvSpPr>
          <p:cNvPr id="7" name="Strategy rows"/>
          <p:cNvSpPr txBox="1"/>
          <p:nvPr/>
        </p:nvSpPr>
        <p:spPr>
          <a:xfrm>
            <a:off x="640080" y="1938528"/>
            <a:ext cx="322874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discount rules without a switch on the promo type.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DiscountStrategy.calculate(ctx), validateConfig()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×4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· FixedAmount · VolumeTier · BuyXGetYFree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PromotionsService gets registry.get(promotion.strategy)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promo code picks the algorithm; the admin can switch it live (PATCH /promotions/:id).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 </a:t>
            </a:r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class + one line in STRATEGY_CLASSES</a:t>
            </a:r>
            <a:endParaRPr lang="en-US" sz="1200" dirty="0"/>
          </a:p>
        </p:txBody>
      </p:sp>
      <p:sp>
        <p:nvSpPr>
          <p:cNvPr id="8" name="Strategy code box"/>
          <p:cNvSpPr/>
          <p:nvPr/>
        </p:nvSpPr>
        <p:spPr>
          <a:xfrm>
            <a:off x="640080" y="4910328"/>
            <a:ext cx="3210458" cy="749808"/>
          </a:xfrm>
          <a:prstGeom prst="roundRect">
            <a:avLst>
              <a:gd name="adj" fmla="val 975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9" name="Strategy code"/>
          <p:cNvSpPr txBox="1"/>
          <p:nvPr/>
        </p:nvSpPr>
        <p:spPr>
          <a:xfrm>
            <a:off x="749808" y="5001768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registry.get(promo.strategy)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.calculate({ subtotal, items })</a:t>
            </a:r>
            <a:endParaRPr lang="en-US" sz="1100" dirty="0"/>
          </a:p>
        </p:txBody>
      </p:sp>
      <p:sp>
        <p:nvSpPr>
          <p:cNvPr id="10" name="Adapter card"/>
          <p:cNvSpPr/>
          <p:nvPr/>
        </p:nvSpPr>
        <p:spPr>
          <a:xfrm>
            <a:off x="4307738" y="1097280"/>
            <a:ext cx="3576218" cy="4709160"/>
          </a:xfrm>
          <a:prstGeom prst="roundRect">
            <a:avLst>
              <a:gd name="adj" fmla="val 204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Adapter badge"/>
          <p:cNvSpPr/>
          <p:nvPr/>
        </p:nvSpPr>
        <p:spPr>
          <a:xfrm>
            <a:off x="4490618" y="12801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Adapter badge letter"/>
          <p:cNvSpPr txBox="1"/>
          <p:nvPr/>
        </p:nvSpPr>
        <p:spPr>
          <a:xfrm>
            <a:off x="449061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Adapter header"/>
          <p:cNvSpPr txBox="1"/>
          <p:nvPr/>
        </p:nvSpPr>
        <p:spPr>
          <a:xfrm>
            <a:off x="5057546" y="1243584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providers</a:t>
            </a:r>
            <a:endParaRPr lang="en-US" sz="1800" dirty="0"/>
          </a:p>
        </p:txBody>
      </p:sp>
      <p:sp>
        <p:nvSpPr>
          <p:cNvPr id="14" name="Adapter rows"/>
          <p:cNvSpPr txBox="1"/>
          <p:nvPr/>
        </p:nvSpPr>
        <p:spPr>
          <a:xfrm>
            <a:off x="4490618" y="1938528"/>
            <a:ext cx="322874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SDKs have incompatible APIs and must not be edited.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PaymentGateway.pay(): Promise&lt;PaymentResult&gt;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Adaptees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KaspiPayClient: tiyn, PascalCase, StatusCode. HalykEpayGateway: callback, ISO 398, codes 00/51/14/54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KaspiPayAdapter · HalykCardAdapter (+ 2 native gateways)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PaymentsService: records Payment, auto-confirms order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 </a:t>
            </a:r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runs all 4 gateways through one interface</a:t>
            </a:r>
            <a:endParaRPr lang="en-US" sz="1200" dirty="0"/>
          </a:p>
        </p:txBody>
      </p:sp>
      <p:sp>
        <p:nvSpPr>
          <p:cNvPr id="15" name="Adapter code box"/>
          <p:cNvSpPr/>
          <p:nvPr/>
        </p:nvSpPr>
        <p:spPr>
          <a:xfrm>
            <a:off x="4490618" y="4910328"/>
            <a:ext cx="3210458" cy="749808"/>
          </a:xfrm>
          <a:prstGeom prst="roundRect">
            <a:avLst>
              <a:gd name="adj" fmla="val 975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6" name="Adapter code"/>
          <p:cNvSpPr txBox="1"/>
          <p:nvPr/>
        </p:nvSpPr>
        <p:spPr>
          <a:xfrm>
            <a:off x="4600346" y="5001768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client.CreateRemotePayment({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Phone, Amount: kzt * 100 })</a:t>
            </a:r>
            <a:endParaRPr lang="en-US" sz="1100" dirty="0"/>
          </a:p>
        </p:txBody>
      </p:sp>
      <p:sp>
        <p:nvSpPr>
          <p:cNvPr id="17" name="Decorator card"/>
          <p:cNvSpPr/>
          <p:nvPr/>
        </p:nvSpPr>
        <p:spPr>
          <a:xfrm>
            <a:off x="8158277" y="1097280"/>
            <a:ext cx="3576218" cy="4709160"/>
          </a:xfrm>
          <a:prstGeom prst="roundRect">
            <a:avLst>
              <a:gd name="adj" fmla="val 204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Decorator badge"/>
          <p:cNvSpPr/>
          <p:nvPr/>
        </p:nvSpPr>
        <p:spPr>
          <a:xfrm>
            <a:off x="8341157" y="12801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Decorator badge letter"/>
          <p:cNvSpPr txBox="1"/>
          <p:nvPr/>
        </p:nvSpPr>
        <p:spPr>
          <a:xfrm>
            <a:off x="834115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Decorator header"/>
          <p:cNvSpPr txBox="1"/>
          <p:nvPr/>
        </p:nvSpPr>
        <p:spPr>
          <a:xfrm>
            <a:off x="8908085" y="1243584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services, channels</a:t>
            </a:r>
            <a:endParaRPr lang="en-US" sz="1800" dirty="0"/>
          </a:p>
        </p:txBody>
      </p:sp>
      <p:sp>
        <p:nvSpPr>
          <p:cNvPr id="21" name="Decorator rows"/>
          <p:cNvSpPr txBox="1"/>
          <p:nvPr/>
        </p:nvSpPr>
        <p:spPr>
          <a:xfrm>
            <a:off x="8341157" y="1938528"/>
            <a:ext cx="322874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optional services = 16 combinations without subclasses.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OrderCost.getCost(), getLines(). Base: BaseOrderCost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Decorators ×4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+7 500 · Certificates +2 500 · Insurance +1.5% · Installation +5%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buildOrderCost(): Insurance(Express(Base)) at runtime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use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Sms(Email(Realtime(InApp))) notifications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 </a:t>
            </a:r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GiftWrapDecorator in a test, nothing modified</a:t>
            </a:r>
            <a:endParaRPr lang="en-US" sz="1200" dirty="0"/>
          </a:p>
        </p:txBody>
      </p:sp>
      <p:sp>
        <p:nvSpPr>
          <p:cNvPr id="22" name="Decorator code box"/>
          <p:cNvSpPr/>
          <p:nvPr/>
        </p:nvSpPr>
        <p:spPr>
          <a:xfrm>
            <a:off x="8341157" y="4910328"/>
            <a:ext cx="3210458" cy="749808"/>
          </a:xfrm>
          <a:prstGeom prst="roundRect">
            <a:avLst>
              <a:gd name="adj" fmla="val 975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3" name="Decorator code"/>
          <p:cNvSpPr txBox="1"/>
          <p:nvPr/>
        </p:nvSpPr>
        <p:spPr>
          <a:xfrm>
            <a:off x="8450885" y="5001768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CargoInsuranceDecorator(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ExpressDeliveryDecorator(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BaseOrderCost(sub, disc)))</a:t>
            </a:r>
            <a:endParaRPr lang="en-US" sz="1100" dirty="0"/>
          </a:p>
        </p:txBody>
      </p:sp>
      <p:sp>
        <p:nvSpPr>
          <p:cNvPr id="24" name="Principle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idea: </a:t>
            </a:r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code depends only on an interface, and new behaviour is a new class (Open/Closed, Dependency Inversion). Tests prove it by registering classes the code never knew about.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class diagram &amp; database design</a:t>
            </a:r>
            <a:endParaRPr lang="en-US" sz="3000" dirty="0"/>
          </a:p>
        </p:txBody>
      </p:sp>
      <p:pic>
        <p:nvPicPr>
          <p:cNvPr id="3" name="UML class diagram" descr="UML class diagram: domain model, services and the three patter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57596" cy="5257800"/>
          </a:xfrm>
          <a:prstGeom prst="rect">
            <a:avLst/>
          </a:prstGeom>
        </p:spPr>
      </p:pic>
      <p:pic>
        <p:nvPicPr>
          <p:cNvPr id="4" name="ERD" descr="Entity-relationship diagram of the e-commerce c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836" y="1051560"/>
            <a:ext cx="5499659" cy="2672332"/>
          </a:xfrm>
          <a:prstGeom prst="rect">
            <a:avLst/>
          </a:prstGeom>
        </p:spPr>
      </p:pic>
      <p:sp>
        <p:nvSpPr>
          <p:cNvPr id="5" name="Diagram captions"/>
          <p:cNvSpPr txBox="1"/>
          <p:nvPr/>
        </p:nvSpPr>
        <p:spPr>
          <a:xfrm>
            <a:off x="6234836" y="3769612"/>
            <a:ext cx="5499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UML (domain + services + patterns). Right: ERD of the e-commerce core.</a:t>
            </a:r>
            <a:endParaRPr lang="en-US" sz="1100" dirty="0"/>
          </a:p>
        </p:txBody>
      </p:sp>
      <p:sp>
        <p:nvSpPr>
          <p:cNvPr id="6" name="Relations card"/>
          <p:cNvSpPr/>
          <p:nvPr/>
        </p:nvSpPr>
        <p:spPr>
          <a:xfrm>
            <a:off x="6234836" y="4107940"/>
            <a:ext cx="2635529" cy="2201420"/>
          </a:xfrm>
          <a:prstGeom prst="roundRect">
            <a:avLst>
              <a:gd name="adj" fmla="val 332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Relations"/>
          <p:cNvSpPr txBox="1"/>
          <p:nvPr/>
        </p:nvSpPr>
        <p:spPr>
          <a:xfrm>
            <a:off x="6371996" y="4217668"/>
            <a:ext cx="2379497" cy="2018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relationships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1–* Order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1–* OrderItem, Payment, StatusHistory (composition)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*–* Category; Product 1–* Stock per Warehouse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→ Promotion via promo_code + discount_strategy</a:t>
            </a:r>
            <a:endParaRPr lang="en-US" sz="1300" dirty="0"/>
          </a:p>
        </p:txBody>
      </p:sp>
      <p:sp>
        <p:nvSpPr>
          <p:cNvPr id="8" name="Storage card"/>
          <p:cNvSpPr/>
          <p:nvPr/>
        </p:nvSpPr>
        <p:spPr>
          <a:xfrm>
            <a:off x="9098966" y="4107940"/>
            <a:ext cx="2635529" cy="2201420"/>
          </a:xfrm>
          <a:prstGeom prst="roundRect">
            <a:avLst>
              <a:gd name="adj" fmla="val 332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Storage"/>
          <p:cNvSpPr txBox="1"/>
          <p:nvPr/>
        </p:nvSpPr>
        <p:spPr>
          <a:xfrm>
            <a:off x="9236126" y="4217668"/>
            <a:ext cx="2379497" cy="2018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consistency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via Prisma, migrations 0–5, UUID keys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as DECIMAL(14,2), enums for statuses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Order, stock and promo usage in one transaction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breakdown saved in each order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error handling &amp; likely questions</a:t>
            </a:r>
            <a:endParaRPr lang="en-US" sz="3000" dirty="0"/>
          </a:p>
        </p:txBody>
      </p:sp>
      <p:sp>
        <p:nvSpPr>
          <p:cNvPr id="3" name="Tests card"/>
          <p:cNvSpPr/>
          <p:nvPr/>
        </p:nvSpPr>
        <p:spPr>
          <a:xfrm>
            <a:off x="457200" y="10515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" name="Tests number"/>
          <p:cNvSpPr txBox="1"/>
          <p:nvPr/>
        </p:nvSpPr>
        <p:spPr>
          <a:xfrm>
            <a:off x="640080" y="1143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326/326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 (262 unit + 64 API E2E)</a:t>
            </a:r>
            <a:endParaRPr lang="en-US" sz="3600" dirty="0"/>
          </a:p>
        </p:txBody>
      </p:sp>
      <p:graphicFrame>
        <p:nvGraphicFramePr>
          <p:cNvPr id="5" name="Tests per group chart" descr=""/>
          <p:cNvGraphicFramePr/>
          <p:nvPr/>
        </p:nvGraphicFramePr>
        <p:xfrm>
          <a:off x="548640" y="2011680"/>
          <a:ext cx="37033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Errors card"/>
          <p:cNvSpPr/>
          <p:nvPr/>
        </p:nvSpPr>
        <p:spPr>
          <a:xfrm>
            <a:off x="457200" y="3931920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Errors"/>
          <p:cNvSpPr txBox="1"/>
          <p:nvPr/>
        </p:nvSpPr>
        <p:spPr>
          <a:xfrm>
            <a:off x="640080" y="402336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errors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DTOs with class-validator. Every error is RFC 7807 JSON with errorCode and a readable detail.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PROMO_INVALID: promo expired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PAYMENT_DETAILS_INVALID: bad card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INSUFFICIENT_STOCK, CART_EMPTY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</a:t>
            </a:r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ORDER_ALREADY_PAID; 403 not owner</a:t>
            </a:r>
            <a:endParaRPr lang="en-US" sz="1400" dirty="0"/>
          </a:p>
        </p:txBody>
      </p:sp>
      <p:sp>
        <p:nvSpPr>
          <p:cNvPr id="8" name="QA 1"/>
          <p:cNvSpPr/>
          <p:nvPr/>
        </p:nvSpPr>
        <p:spPr>
          <a:xfrm>
            <a:off x="4617720" y="1051560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9" name="QA 1 text"/>
          <p:cNvSpPr txBox="1"/>
          <p:nvPr/>
        </p:nvSpPr>
        <p:spPr>
          <a:xfrm>
            <a:off x="4782312" y="1161288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Strategy and not if/else?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discount is a new class. PromotionsService and checkout stay untouched, and the algorithm is chosen from data at runtime.</a:t>
            </a:r>
            <a:endParaRPr lang="en-US" sz="1400" dirty="0"/>
          </a:p>
        </p:txBody>
      </p:sp>
      <p:sp>
        <p:nvSpPr>
          <p:cNvPr id="10" name="QA 2"/>
          <p:cNvSpPr/>
          <p:nvPr/>
        </p:nvSpPr>
        <p:spPr>
          <a:xfrm>
            <a:off x="8290408" y="1051560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QA 2 text"/>
          <p:cNvSpPr txBox="1"/>
          <p:nvPr/>
        </p:nvSpPr>
        <p:spPr>
          <a:xfrm>
            <a:off x="8455000" y="1161288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vs Decorator?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replaces one algorithm (exactly one discount). Decorator stacks extra behaviour (any number of services).</a:t>
            </a:r>
            <a:endParaRPr lang="en-US" sz="1400" dirty="0"/>
          </a:p>
        </p:txBody>
      </p:sp>
      <p:sp>
        <p:nvSpPr>
          <p:cNvPr id="12" name="QA 3"/>
          <p:cNvSpPr/>
          <p:nvPr/>
        </p:nvSpPr>
        <p:spPr>
          <a:xfrm>
            <a:off x="4617720" y="2770632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3" name="QA 3 text"/>
          <p:cNvSpPr txBox="1"/>
          <p:nvPr/>
        </p:nvSpPr>
        <p:spPr>
          <a:xfrm>
            <a:off x="4782312" y="2880360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vendor SDK changed?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vendors/*.sdk.ts are never edited; adapters convert units, formats, callbacks and response codes.</a:t>
            </a:r>
            <a:endParaRPr lang="en-US" sz="1400" dirty="0"/>
          </a:p>
        </p:txBody>
      </p:sp>
      <p:sp>
        <p:nvSpPr>
          <p:cNvPr id="14" name="QA 4"/>
          <p:cNvSpPr/>
          <p:nvPr/>
        </p:nvSpPr>
        <p:spPr>
          <a:xfrm>
            <a:off x="8290408" y="2770632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QA 4 text"/>
          <p:cNvSpPr txBox="1"/>
          <p:nvPr/>
        </p:nvSpPr>
        <p:spPr>
          <a:xfrm>
            <a:off x="8455000" y="2880360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Decorator, not inheritance?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combine freely at runtime: 4 decorators instead of 16 subclasses, each wraps any OrderCost.</a:t>
            </a:r>
            <a:endParaRPr lang="en-US" sz="1400" dirty="0"/>
          </a:p>
        </p:txBody>
      </p:sp>
      <p:sp>
        <p:nvSpPr>
          <p:cNvPr id="16" name="QA 5"/>
          <p:cNvSpPr/>
          <p:nvPr/>
        </p:nvSpPr>
        <p:spPr>
          <a:xfrm>
            <a:off x="4617720" y="4489704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7" name="QA 5 text"/>
          <p:cNvSpPr txBox="1"/>
          <p:nvPr/>
        </p:nvSpPr>
        <p:spPr>
          <a:xfrm>
            <a:off x="4782312" y="4599432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payment fails?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is kept, the attempt is stored as failed, the customer is notified and retries. Cancelling a paid order refunds it.</a:t>
            </a:r>
            <a:endParaRPr lang="en-US" sz="1400" dirty="0"/>
          </a:p>
        </p:txBody>
      </p:sp>
      <p:sp>
        <p:nvSpPr>
          <p:cNvPr id="18" name="QA 6"/>
          <p:cNvSpPr/>
          <p:nvPr/>
        </p:nvSpPr>
        <p:spPr>
          <a:xfrm>
            <a:off x="8290408" y="4489704"/>
            <a:ext cx="3444088" cy="1673352"/>
          </a:xfrm>
          <a:prstGeom prst="roundRect">
            <a:avLst>
              <a:gd name="adj" fmla="val 437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QA 6 text"/>
          <p:cNvSpPr txBox="1"/>
          <p:nvPr/>
        </p:nvSpPr>
        <p:spPr>
          <a:xfrm>
            <a:off x="8455000" y="4599432"/>
            <a:ext cx="314233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data kept consistent?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 migrations; order, stock reservation and promo usage are written in one transaction.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Synteco Demo — E-Commerce Management System</dc:title>
  <dc:subject>Design patterns course project: Strategy, Adapter, Decorator</dc:subject>
  <dc:creator>Sauytbek Beksultan</dc:creator>
  <cp:lastModifiedBy>Sauytbek Beksultan</cp:lastModifiedBy>
  <cp:revision>1</cp:revision>
  <dcterms:created xsi:type="dcterms:W3CDTF">2026-10-22T20:33:29Z</dcterms:created>
  <dcterms:modified xsi:type="dcterms:W3CDTF">2026-10-22T20:33:29Z</dcterms:modified>
</cp:coreProperties>
</file>